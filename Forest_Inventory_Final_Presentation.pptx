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Century Schoolbook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185CA0-C897-42C8-B7B0-4A20F4E2A189}">
  <a:tblStyle styleId="{53185CA0-C897-42C8-B7B0-4A20F4E2A189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000000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000000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CenturySchoolbook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CenturySchoolbook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enturySchoolbook-boldItalic.fntdata"/><Relationship Id="rId30" Type="http://schemas.openxmlformats.org/officeDocument/2006/relationships/font" Target="fonts/CenturySchoolbook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1863f22cf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391863f22cf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1863f22cf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91863f22cf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1863f22cf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391863f22cf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1863f22cf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91863f22cf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1863f22cf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91863f22c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4" name="Google Shape;24;p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" name="Google Shape;26;p2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130300" y="1803400"/>
            <a:ext cx="5825202" cy="12347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50"/>
              <a:buFont typeface="Trebuchet MS"/>
              <a:buNone/>
              <a:defRPr sz="405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130300" y="3038125"/>
            <a:ext cx="5825202" cy="822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750"/>
              </a:spcBef>
              <a:spcAft>
                <a:spcPts val="0"/>
              </a:spcAft>
              <a:buSzPts val="108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75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750"/>
              </a:spcBef>
              <a:spcAft>
                <a:spcPts val="0"/>
              </a:spcAft>
              <a:buSzPts val="84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" type="body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/>
          <p:nvPr>
            <p:ph type="title"/>
          </p:nvPr>
        </p:nvSpPr>
        <p:spPr>
          <a:xfrm>
            <a:off x="508001" y="2025651"/>
            <a:ext cx="6447501" cy="1369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/>
              <a:buNone/>
              <a:defRPr b="0" sz="3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508001" y="3395586"/>
            <a:ext cx="6447501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508001" y="1620442"/>
            <a:ext cx="3138026" cy="2910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3817477" y="1620442"/>
            <a:ext cx="3138026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" type="body"/>
          </p:nvPr>
        </p:nvSpPr>
        <p:spPr>
          <a:xfrm>
            <a:off x="506809" y="1620737"/>
            <a:ext cx="3139217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440"/>
              <a:buNone/>
              <a:defRPr b="0" sz="1800"/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1080"/>
              <a:buNone/>
              <a:defRPr b="1" sz="1350"/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9pPr>
          </a:lstStyle>
          <a:p/>
        </p:txBody>
      </p:sp>
      <p:sp>
        <p:nvSpPr>
          <p:cNvPr id="61" name="Google Shape;61;p6"/>
          <p:cNvSpPr txBox="1"/>
          <p:nvPr>
            <p:ph idx="2" type="body"/>
          </p:nvPr>
        </p:nvSpPr>
        <p:spPr>
          <a:xfrm>
            <a:off x="506809" y="2052934"/>
            <a:ext cx="3139217" cy="2478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3" type="body"/>
          </p:nvPr>
        </p:nvSpPr>
        <p:spPr>
          <a:xfrm>
            <a:off x="3816287" y="1620737"/>
            <a:ext cx="3139214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440"/>
              <a:buNone/>
              <a:defRPr b="0" sz="1800"/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1080"/>
              <a:buNone/>
              <a:defRPr b="1" sz="1350"/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9pPr>
          </a:lstStyle>
          <a:p/>
        </p:txBody>
      </p:sp>
      <p:sp>
        <p:nvSpPr>
          <p:cNvPr id="63" name="Google Shape;63;p6"/>
          <p:cNvSpPr txBox="1"/>
          <p:nvPr>
            <p:ph idx="4" type="body"/>
          </p:nvPr>
        </p:nvSpPr>
        <p:spPr>
          <a:xfrm>
            <a:off x="3816288" y="2052934"/>
            <a:ext cx="3139213" cy="2478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508000" y="1123953"/>
            <a:ext cx="2890896" cy="958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3570346" y="386193"/>
            <a:ext cx="3385156" cy="4144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508000" y="2082802"/>
            <a:ext cx="2890896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/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/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type="title"/>
          </p:nvPr>
        </p:nvSpPr>
        <p:spPr>
          <a:xfrm>
            <a:off x="508001" y="3600450"/>
            <a:ext cx="64475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b="0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/>
          <p:nvPr>
            <p:ph idx="2" type="pic"/>
          </p:nvPr>
        </p:nvSpPr>
        <p:spPr>
          <a:xfrm>
            <a:off x="508001" y="457200"/>
            <a:ext cx="6447501" cy="2884289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/>
          <p:nvPr>
            <p:ph idx="1" type="body"/>
          </p:nvPr>
        </p:nvSpPr>
        <p:spPr>
          <a:xfrm>
            <a:off x="508001" y="4025504"/>
            <a:ext cx="6447500" cy="50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/>
        </p:txBody>
      </p:sp>
      <p:sp>
        <p:nvSpPr>
          <p:cNvPr id="87" name="Google Shape;87;p10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type="title"/>
          </p:nvPr>
        </p:nvSpPr>
        <p:spPr>
          <a:xfrm>
            <a:off x="508001" y="457200"/>
            <a:ext cx="6447501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>
            <a:off x="1024604" y="2724150"/>
            <a:ext cx="54183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960"/>
              <a:buFont typeface="Trebuchet MS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960"/>
              <a:buFont typeface="Trebuchet MS"/>
              <a:buNone/>
              <a:defRPr/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840"/>
              <a:buFont typeface="Trebuchet MS"/>
              <a:buNone/>
              <a:defRPr/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2" type="body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2"/>
          <p:cNvSpPr txBox="1"/>
          <p:nvPr/>
        </p:nvSpPr>
        <p:spPr>
          <a:xfrm>
            <a:off x="406402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050" u="none" cap="none" strike="noStrik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type="title"/>
          </p:nvPr>
        </p:nvSpPr>
        <p:spPr>
          <a:xfrm>
            <a:off x="508001" y="1448991"/>
            <a:ext cx="6447501" cy="19465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440"/>
              <a:buFont typeface="Trebuchet MS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960"/>
              <a:buFont typeface="Trebuchet MS"/>
              <a:buNone/>
              <a:defRPr/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840"/>
              <a:buFont typeface="Trebuchet MS"/>
              <a:buNone/>
              <a:defRPr/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2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406402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514350" y="457200"/>
            <a:ext cx="6441152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44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960"/>
              <a:buFont typeface="Trebuchet MS"/>
              <a:buNone/>
              <a:defRPr/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840"/>
              <a:buFont typeface="Trebuchet MS"/>
              <a:buNone/>
              <a:defRPr/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2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5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" type="body"/>
          </p:nvPr>
        </p:nvSpPr>
        <p:spPr>
          <a:xfrm rot="5400000">
            <a:off x="2276462" y="-148019"/>
            <a:ext cx="2910580" cy="6447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 rot="5400000">
            <a:off x="4495739" y="1937216"/>
            <a:ext cx="3938588" cy="978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 rot="5400000">
            <a:off x="1186264" y="-221062"/>
            <a:ext cx="3938588" cy="5295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7" name="Google Shape;7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" name="Google Shape;9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1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b="0" i="0" sz="2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►"/>
              <a:defRPr b="0" i="0" sz="135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89560" lvl="1" marL="9144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81939" lvl="2" marL="13716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►"/>
              <a:defRPr b="0" i="0" sz="105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74319" lvl="3" marL="18288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74320" lvl="4" marL="22860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74320" lvl="5" marL="27432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74320" lvl="6" marL="32004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74320" lvl="7" marL="36576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74320" lvl="8" marL="41148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437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ctrTitle"/>
          </p:nvPr>
        </p:nvSpPr>
        <p:spPr>
          <a:xfrm>
            <a:off x="447400" y="1460200"/>
            <a:ext cx="67023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5400"/>
              <a:buFont typeface="Century"/>
              <a:buNone/>
            </a:pPr>
            <a:r>
              <a:rPr b="1" lang="en-US" sz="3700">
                <a:solidFill>
                  <a:schemeClr val="lt1"/>
                </a:solidFill>
                <a:latin typeface="Century"/>
                <a:ea typeface="Century"/>
                <a:cs typeface="Century"/>
                <a:sym typeface="Century"/>
              </a:rPr>
              <a:t>      AI Based Forest Inventory </a:t>
            </a:r>
            <a:endParaRPr b="1" sz="3700">
              <a:solidFill>
                <a:schemeClr val="lt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44" name="Google Shape;144;p18"/>
          <p:cNvSpPr txBox="1"/>
          <p:nvPr>
            <p:ph idx="1" type="subTitle"/>
          </p:nvPr>
        </p:nvSpPr>
        <p:spPr>
          <a:xfrm>
            <a:off x="887225" y="3275275"/>
            <a:ext cx="39867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Schoolbook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Group Members</a:t>
            </a:r>
            <a:r>
              <a:rPr lang="en-US" sz="17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Schoolbook"/>
              <a:buNone/>
            </a:pPr>
            <a:r>
              <a:rPr lang="en-US" sz="17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Noman Shahid</a:t>
            </a:r>
            <a:r>
              <a:rPr b="0" i="0" lang="en-US" sz="17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(22P-9</a:t>
            </a:r>
            <a:r>
              <a:rPr lang="en-US" sz="17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029</a:t>
            </a:r>
            <a:r>
              <a:rPr b="0" i="0" lang="en-US" sz="17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Schoolbook"/>
              <a:buNone/>
            </a:pPr>
            <a:r>
              <a:rPr lang="en-US" sz="17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Ahmad Waheed</a:t>
            </a:r>
            <a:r>
              <a:rPr b="0" i="0" lang="en-US" sz="17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(22P-9</a:t>
            </a:r>
            <a:r>
              <a:rPr lang="en-US" sz="17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031</a:t>
            </a:r>
            <a:r>
              <a:rPr b="0" i="0" lang="en-US" sz="17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Schoolbook"/>
              <a:buNone/>
            </a:pPr>
            <a:r>
              <a:rPr lang="en-US" sz="17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Sadaqat Ali Shakir</a:t>
            </a:r>
            <a:r>
              <a:rPr b="0" i="0" lang="en-US" sz="17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(22P-</a:t>
            </a:r>
            <a:r>
              <a:rPr lang="en-US" sz="17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9223</a:t>
            </a:r>
            <a:r>
              <a:rPr b="0" i="0" lang="en-US" sz="17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791100" y="3275250"/>
            <a:ext cx="36501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2F2F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2F2F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Supervisor:</a:t>
            </a:r>
            <a:endParaRPr b="0" i="0" sz="170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F2F2F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Dr.Bilal Jan</a:t>
            </a:r>
            <a:endParaRPr b="0" i="0" sz="1700" u="none" cap="none" strike="noStrike">
              <a:solidFill>
                <a:srgbClr val="F2F2F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2F2F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National University of Computer and Emerging Sciences - Wikipedia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390" y="8181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195550" y="567069"/>
            <a:ext cx="7269300" cy="54427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entury Schoolbook"/>
              <a:buNone/>
            </a:pPr>
            <a:r>
              <a:rPr b="1" lang="en-US" sz="3600" strike="noStrike">
                <a:latin typeface="Georgia"/>
                <a:ea typeface="Georgia"/>
                <a:cs typeface="Georgia"/>
                <a:sym typeface="Georgia"/>
              </a:rPr>
              <a:t>Introducti</a:t>
            </a: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o</a:t>
            </a:r>
            <a:r>
              <a:rPr b="1" lang="en-US" sz="3600" strike="noStrike">
                <a:latin typeface="Georgia"/>
                <a:ea typeface="Georgia"/>
                <a:cs typeface="Georgia"/>
                <a:sym typeface="Georgia"/>
              </a:rPr>
              <a:t>n</a:t>
            </a:r>
            <a:endParaRPr b="1" sz="3600" strike="noStrike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301214" y="1111345"/>
            <a:ext cx="6305842" cy="36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Our project is an AI-based system that automatically detects and counts trees from point cloud data.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Instead of performing manual forest surveys, we segment each tree, extract essential attributes such as height and crown size, and store this information in a database as a digital forest inventory.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This inventory can be used for tree monitoring, forest management, and tracking changes over time.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The overall goal is to make forest analysis faster, more efficient, and more accurate using AI techniques.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sz="1200"/>
          </a:p>
        </p:txBody>
      </p:sp>
      <p:sp>
        <p:nvSpPr>
          <p:cNvPr id="153" name="Google Shape;153;p19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6111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173347" y="614395"/>
            <a:ext cx="6582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rgia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Workf</a:t>
            </a: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low Diagram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Schoolbook"/>
              <a:buNone/>
            </a:pPr>
            <a:r>
              <a:t/>
            </a:r>
            <a:endParaRPr b="1" sz="2400"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8469630" y="4650084"/>
            <a:ext cx="685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500" y="1069600"/>
            <a:ext cx="5770598" cy="3767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400175" y="339400"/>
            <a:ext cx="445536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Georgia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Use Case Diagram</a:t>
            </a:r>
            <a:endParaRPr b="1"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8" name="Google Shape;168;p21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81818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500" y="1011125"/>
            <a:ext cx="5606025" cy="338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119349" y="80724"/>
            <a:ext cx="6891051" cy="110402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Georgia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Layered Architecture Diagram</a:t>
            </a:r>
            <a:endParaRPr b="1"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81818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177" name="Google Shape;1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055" y="1166400"/>
            <a:ext cx="5529047" cy="374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>
            <a:off x="187523" y="189238"/>
            <a:ext cx="4831043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Sequence Diagram</a:t>
            </a:r>
            <a:endParaRPr b="1"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81818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185" name="Google Shape;1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525" y="895224"/>
            <a:ext cx="6434625" cy="335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>
            <p:ph type="title"/>
          </p:nvPr>
        </p:nvSpPr>
        <p:spPr>
          <a:xfrm>
            <a:off x="339006" y="391945"/>
            <a:ext cx="726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entury Schoolbook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UI/UX</a:t>
            </a:r>
            <a:endParaRPr b="1" sz="3600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2" name="Google Shape;192;p24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81818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939271" y="4010609"/>
            <a:ext cx="160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Upload Data</a:t>
            </a:r>
            <a:endParaRPr b="1"/>
          </a:p>
        </p:txBody>
      </p:sp>
      <p:sp>
        <p:nvSpPr>
          <p:cNvPr id="194" name="Google Shape;194;p24"/>
          <p:cNvSpPr txBox="1"/>
          <p:nvPr/>
        </p:nvSpPr>
        <p:spPr>
          <a:xfrm>
            <a:off x="2540959" y="4235009"/>
            <a:ext cx="16194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"/>
          <p:cNvSpPr txBox="1"/>
          <p:nvPr/>
        </p:nvSpPr>
        <p:spPr>
          <a:xfrm>
            <a:off x="4759800" y="4010600"/>
            <a:ext cx="187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DashBoard &amp; Insights</a:t>
            </a:r>
            <a:endParaRPr b="1"/>
          </a:p>
        </p:txBody>
      </p:sp>
      <p:pic>
        <p:nvPicPr>
          <p:cNvPr descr="National University of Computer and Emerging Sciences - Wikipedia"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70000"/>
            <a:ext cx="3690200" cy="230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5000" y="1213601"/>
            <a:ext cx="3105378" cy="242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377359" y="391945"/>
            <a:ext cx="726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rgia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UI/UX</a:t>
            </a:r>
            <a:endParaRPr b="1"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81818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256856" y="4419840"/>
            <a:ext cx="19121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5"/>
          <p:cNvSpPr txBox="1"/>
          <p:nvPr/>
        </p:nvSpPr>
        <p:spPr>
          <a:xfrm>
            <a:off x="2486350" y="3899075"/>
            <a:ext cx="262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Reports &amp; Visualization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07" name="Google Shape;207;p25"/>
          <p:cNvSpPr txBox="1"/>
          <p:nvPr/>
        </p:nvSpPr>
        <p:spPr>
          <a:xfrm>
            <a:off x="4638334" y="4408478"/>
            <a:ext cx="15797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ational University of Computer and Emerging Sciences - Wikipedia"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625" y="1077335"/>
            <a:ext cx="30956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2400" y="1077325"/>
            <a:ext cx="367177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87976" y="227986"/>
            <a:ext cx="78285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rgia"/>
              <a:buNone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Dataset Preview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26"/>
          <p:cNvSpPr txBox="1"/>
          <p:nvPr>
            <p:ph idx="12" type="sldNum"/>
          </p:nvPr>
        </p:nvSpPr>
        <p:spPr>
          <a:xfrm>
            <a:off x="6442998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17" name="Google Shape;2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975" y="1000775"/>
            <a:ext cx="6908625" cy="353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>
            <p:ph type="title"/>
          </p:nvPr>
        </p:nvSpPr>
        <p:spPr>
          <a:xfrm>
            <a:off x="87976" y="227986"/>
            <a:ext cx="78285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rgia"/>
              <a:buNone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Dataset Preview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4" name="Google Shape;224;p27"/>
          <p:cNvSpPr txBox="1"/>
          <p:nvPr>
            <p:ph idx="12" type="sldNum"/>
          </p:nvPr>
        </p:nvSpPr>
        <p:spPr>
          <a:xfrm>
            <a:off x="6442998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25" name="Google Shape;2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53175"/>
            <a:ext cx="3783124" cy="212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4937" y="1821951"/>
            <a:ext cx="4589676" cy="252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316051" y="547049"/>
            <a:ext cx="7828487" cy="77271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rgia"/>
              <a:buNone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Forest Inventory</a:t>
            </a: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 Features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316051" y="1578511"/>
            <a:ext cx="6897620" cy="35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b="1" lang="en-US" sz="1300"/>
              <a:t>The final product will contain following features: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Tree Identification &amp; Counting.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Tree Location Mapping.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Tree Attribute Extraction (Height,Crown </a:t>
            </a:r>
            <a:r>
              <a:rPr lang="en-US"/>
              <a:t>Diameter,DBH,Wood Density).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Calculate Biomass.</a:t>
            </a:r>
            <a:endParaRPr/>
          </a:p>
          <a:p>
            <a:pPr indent="-26733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Updating Forest Over Time.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t/>
            </a:r>
            <a:endParaRPr/>
          </a:p>
          <a:p>
            <a:pPr indent="-1555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34" name="Google Shape;234;p28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6111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35" name="Google Shape;23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/>
          <p:nvPr>
            <p:ph type="title"/>
          </p:nvPr>
        </p:nvSpPr>
        <p:spPr>
          <a:xfrm>
            <a:off x="316051" y="547049"/>
            <a:ext cx="7828487" cy="77271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Schoolbook"/>
              <a:buNone/>
            </a:pPr>
            <a:r>
              <a:rPr b="1" lang="en-US" sz="3600">
                <a:latin typeface="Century Schoolbook"/>
                <a:ea typeface="Century Schoolbook"/>
                <a:cs typeface="Century Schoolbook"/>
                <a:sym typeface="Century Schoolbook"/>
              </a:rPr>
              <a:t>Tree Segmentation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1" name="Google Shape;241;p29"/>
          <p:cNvSpPr txBox="1"/>
          <p:nvPr>
            <p:ph idx="1" type="body"/>
          </p:nvPr>
        </p:nvSpPr>
        <p:spPr>
          <a:xfrm>
            <a:off x="316051" y="1578511"/>
            <a:ext cx="6897620" cy="35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t/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t/>
            </a:r>
            <a:endParaRPr/>
          </a:p>
        </p:txBody>
      </p:sp>
      <p:sp>
        <p:nvSpPr>
          <p:cNvPr id="242" name="Google Shape;242;p29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6111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43" name="Google Shape;24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type="title"/>
          </p:nvPr>
        </p:nvSpPr>
        <p:spPr>
          <a:xfrm>
            <a:off x="187523" y="189238"/>
            <a:ext cx="483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Tree Features</a:t>
            </a:r>
            <a:endParaRPr b="1"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9" name="Google Shape;249;p30"/>
          <p:cNvSpPr txBox="1"/>
          <p:nvPr>
            <p:ph idx="12" type="sldNum"/>
          </p:nvPr>
        </p:nvSpPr>
        <p:spPr>
          <a:xfrm>
            <a:off x="6442998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81818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50" name="Google Shape;25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45338"/>
            <a:ext cx="5970437" cy="3533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/>
          <p:nvPr>
            <p:ph type="title"/>
          </p:nvPr>
        </p:nvSpPr>
        <p:spPr>
          <a:xfrm>
            <a:off x="316051" y="547049"/>
            <a:ext cx="78285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Schoolbook"/>
              <a:buNone/>
            </a:pPr>
            <a:r>
              <a:rPr b="1" lang="en-US" sz="3600">
                <a:latin typeface="Century Schoolbook"/>
                <a:ea typeface="Century Schoolbook"/>
                <a:cs typeface="Century Schoolbook"/>
                <a:sym typeface="Century Schoolbook"/>
              </a:rPr>
              <a:t>Tree Features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7" name="Google Shape;257;p31"/>
          <p:cNvSpPr txBox="1"/>
          <p:nvPr>
            <p:ph idx="1" type="body"/>
          </p:nvPr>
        </p:nvSpPr>
        <p:spPr>
          <a:xfrm>
            <a:off x="316051" y="1578511"/>
            <a:ext cx="68976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t/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t/>
            </a:r>
            <a:endParaRPr/>
          </a:p>
        </p:txBody>
      </p:sp>
      <p:sp>
        <p:nvSpPr>
          <p:cNvPr id="258" name="Google Shape;258;p31"/>
          <p:cNvSpPr txBox="1"/>
          <p:nvPr>
            <p:ph idx="12" type="sldNum"/>
          </p:nvPr>
        </p:nvSpPr>
        <p:spPr>
          <a:xfrm>
            <a:off x="6442998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59" name="Google Shape;2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/>
          <p:nvPr>
            <p:ph type="title"/>
          </p:nvPr>
        </p:nvSpPr>
        <p:spPr>
          <a:xfrm>
            <a:off x="283535" y="701748"/>
            <a:ext cx="7932025" cy="566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rgia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Model Architecture</a:t>
            </a:r>
            <a:endParaRPr/>
          </a:p>
        </p:txBody>
      </p:sp>
      <p:sp>
        <p:nvSpPr>
          <p:cNvPr id="265" name="Google Shape;265;p32"/>
          <p:cNvSpPr txBox="1"/>
          <p:nvPr>
            <p:ph idx="1" type="body"/>
          </p:nvPr>
        </p:nvSpPr>
        <p:spPr>
          <a:xfrm>
            <a:off x="524166" y="1298125"/>
            <a:ext cx="60819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Used : 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this Model ? : 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Handles tabular tree features effectively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accuracy , implementation.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Robust and low risk of overfitting</a:t>
            </a: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Requires minimal tuning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Task 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DBH, Next Month Prediction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t/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Split: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(80%) and testing (20%)</a:t>
            </a: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Trees: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360</a:t>
            </a: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 Trees: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ational University of Computer and Emerging Sciences - Wikipedia" id="266" name="Google Shape;2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"/>
          <p:cNvSpPr txBox="1"/>
          <p:nvPr>
            <p:ph type="title"/>
          </p:nvPr>
        </p:nvSpPr>
        <p:spPr>
          <a:xfrm>
            <a:off x="377687" y="274320"/>
            <a:ext cx="78378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Schoolbook"/>
              <a:buNone/>
            </a:pPr>
            <a:r>
              <a:rPr b="1" lang="en-US" sz="2800">
                <a:latin typeface="Century Schoolbook"/>
                <a:ea typeface="Century Schoolbook"/>
                <a:cs typeface="Century Schoolbook"/>
                <a:sym typeface="Century Schoolbook"/>
              </a:rPr>
              <a:t>Web Prototype </a:t>
            </a:r>
            <a:endParaRPr/>
          </a:p>
        </p:txBody>
      </p:sp>
      <p:pic>
        <p:nvPicPr>
          <p:cNvPr descr="National University of Computer and Emerging Sciences - Wikipedia" id="272" name="Google Shape;27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075" y="1268225"/>
            <a:ext cx="6697101" cy="3154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377687" y="274320"/>
            <a:ext cx="7837873" cy="993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Schoolbook"/>
              <a:buNone/>
            </a:pPr>
            <a:r>
              <a:rPr b="1" lang="en-US" sz="2800">
                <a:latin typeface="Century Schoolbook"/>
                <a:ea typeface="Century Schoolbook"/>
                <a:cs typeface="Century Schoolbook"/>
                <a:sym typeface="Century Schoolbook"/>
              </a:rPr>
              <a:t>Web Prototype </a:t>
            </a:r>
            <a:endParaRPr/>
          </a:p>
        </p:txBody>
      </p:sp>
      <p:pic>
        <p:nvPicPr>
          <p:cNvPr descr="National University of Computer and Emerging Sciences - Wikipedia" id="279" name="Google Shape;27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00" y="1067400"/>
            <a:ext cx="6314724" cy="367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/>
          <p:nvPr>
            <p:ph type="title"/>
          </p:nvPr>
        </p:nvSpPr>
        <p:spPr>
          <a:xfrm>
            <a:off x="627941" y="117445"/>
            <a:ext cx="4326831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rgia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Progress so far</a:t>
            </a:r>
            <a:endParaRPr/>
          </a:p>
        </p:txBody>
      </p:sp>
      <p:sp>
        <p:nvSpPr>
          <p:cNvPr id="286" name="Google Shape;286;p35"/>
          <p:cNvSpPr txBox="1"/>
          <p:nvPr>
            <p:ph idx="1" type="body"/>
          </p:nvPr>
        </p:nvSpPr>
        <p:spPr>
          <a:xfrm>
            <a:off x="627950" y="1458200"/>
            <a:ext cx="5145300" cy="24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spcBef>
                <a:spcPts val="750"/>
              </a:spcBef>
              <a:spcAft>
                <a:spcPts val="0"/>
              </a:spcAft>
              <a:buSzPts val="960"/>
              <a:buChar char="►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Detected individual trees </a:t>
            </a:r>
            <a:endParaRPr/>
          </a:p>
          <a:p>
            <a:pPr indent="-257175" lvl="0" marL="257175" rtl="0" algn="l">
              <a:spcBef>
                <a:spcPts val="750"/>
              </a:spcBef>
              <a:spcAft>
                <a:spcPts val="0"/>
              </a:spcAft>
              <a:buSzPts val="960"/>
              <a:buChar char="►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Extracted tree-level features (e.g., height, crown area, spectral indices)</a:t>
            </a:r>
            <a:endParaRPr/>
          </a:p>
          <a:p>
            <a:pPr indent="-257175" lvl="0" marL="257175" rtl="0" algn="l">
              <a:spcBef>
                <a:spcPts val="750"/>
              </a:spcBef>
              <a:spcAft>
                <a:spcPts val="0"/>
              </a:spcAft>
              <a:buSzPts val="960"/>
              <a:buChar char="►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Trained a model to predict DBH from extracted features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72415" lvl="0" marL="257175" rtl="0" algn="l">
              <a:spcBef>
                <a:spcPts val="750"/>
              </a:spcBef>
              <a:spcAft>
                <a:spcPts val="0"/>
              </a:spcAft>
              <a:buSzPts val="1200"/>
              <a:buFont typeface="Calibri"/>
              <a:buChar char="►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Prepared a time-series framework to use previous month’s features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rtl="0" algn="l">
              <a:spcBef>
                <a:spcPts val="750"/>
              </a:spcBef>
              <a:spcAft>
                <a:spcPts val="0"/>
              </a:spcAft>
              <a:buSzPts val="960"/>
              <a:buChar char="►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Trained a predictive model to estimate next month's DBH using past monthly data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rtl="0" algn="l">
              <a:spcBef>
                <a:spcPts val="750"/>
              </a:spcBef>
              <a:spcAft>
                <a:spcPts val="0"/>
              </a:spcAft>
              <a:buSzPts val="960"/>
              <a:buChar char="►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Web prototype for simulation</a:t>
            </a:r>
            <a:endParaRPr/>
          </a:p>
          <a:p>
            <a:pPr indent="-257175" lvl="0" marL="257175" rtl="0" algn="l">
              <a:spcBef>
                <a:spcPts val="750"/>
              </a:spcBef>
              <a:spcAft>
                <a:spcPts val="0"/>
              </a:spcAft>
              <a:buSzPts val="960"/>
              <a:buChar char="►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Report done 40% +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96215" lvl="0" marL="257175" rtl="0" algn="l">
              <a:spcBef>
                <a:spcPts val="75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5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6111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88" name="Google Shape;28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 txBox="1"/>
          <p:nvPr>
            <p:ph idx="1" type="body"/>
          </p:nvPr>
        </p:nvSpPr>
        <p:spPr>
          <a:xfrm>
            <a:off x="839371" y="620008"/>
            <a:ext cx="6487200" cy="4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407"/>
              <a:t>	</a:t>
            </a:r>
            <a:br>
              <a:rPr lang="en-US" sz="5407"/>
            </a:br>
            <a:endParaRPr sz="54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4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294" name="Google Shape;294;p36"/>
          <p:cNvSpPr txBox="1"/>
          <p:nvPr/>
        </p:nvSpPr>
        <p:spPr>
          <a:xfrm>
            <a:off x="241005" y="503275"/>
            <a:ext cx="6187565" cy="6631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Work Distribution FYP-1</a:t>
            </a:r>
            <a:endParaRPr b="1" i="0" sz="3600" u="none" cap="none" strike="noStrike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National University of Computer and Emerging Sciences - Wikipedia" id="295" name="Google Shape;29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6" name="Google Shape;296;p36"/>
          <p:cNvGraphicFramePr/>
          <p:nvPr/>
        </p:nvGraphicFramePr>
        <p:xfrm>
          <a:off x="406813" y="1283144"/>
          <a:ext cx="3000000" cy="3000000"/>
        </p:xfrm>
        <a:graphic>
          <a:graphicData uri="http://schemas.openxmlformats.org/drawingml/2006/table">
            <a:tbl>
              <a:tblPr bandCol="1" firstCol="1" lastCol="1">
                <a:noFill/>
                <a:tableStyleId>{53185CA0-C897-42C8-B7B0-4A20F4E2A189}</a:tableStyleId>
              </a:tblPr>
              <a:tblGrid>
                <a:gridCol w="3135350"/>
                <a:gridCol w="3135350"/>
              </a:tblGrid>
              <a:tr h="34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/>
                        <a:t>Team Member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Task / Deliverable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81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0" lang="en-US">
                          <a:solidFill>
                            <a:schemeClr val="dk1"/>
                          </a:solidFill>
                        </a:rPr>
                        <a:t>Sadaqat Ali Shakir</a:t>
                      </a:r>
                      <a:endParaRPr b="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Tree Segmentation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05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0" lang="en-US" sz="1350">
                          <a:solidFill>
                            <a:schemeClr val="dk1"/>
                          </a:solidFill>
                        </a:rPr>
                        <a:t>Ahmad Waheed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Tree Features Extraction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29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0" lang="en-US" sz="1350">
                          <a:solidFill>
                            <a:schemeClr val="dk1"/>
                          </a:solidFill>
                        </a:rPr>
                        <a:t>Noman Shahid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350"/>
                      </a:br>
                      <a:r>
                        <a:rPr lang="en-US" sz="1350"/>
                        <a:t>Model Training</a:t>
                      </a:r>
                      <a:endParaRPr sz="135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>
            <p:ph idx="1" type="body"/>
          </p:nvPr>
        </p:nvSpPr>
        <p:spPr>
          <a:xfrm>
            <a:off x="342421" y="1403100"/>
            <a:ext cx="6446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669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Duncanson, L., &amp; Dubayah, R. (2018). Monitoring individual tree-based change with airborne lidar. Ecology and Evolution, 8(11), 5489-5502. [DOI: 10.1002/ece3.4075] (P13)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669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Dietmaier, A., McDermid, G. J., Rahman, M. M., Linke, J., &amp; Ludwig, R. (2019). Comparison of LiDAR and Digital Aerial Photogrammetry for Characterizing Canopy Openings in the Boreal Forest of Northern Alberta. Remote Sensing, 11(16), 1919. [DOI: 10.3390/rs11161919] (P3)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669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Feng, B., Nie, S., Wang, C., Xi, X., Wang, J., Zhou, G., &amp; Wang, H. (2022). Exploring the Potential of UAV LiDAR Data for Trunk Point Extraction and Direct DBH Measurement. Remote Sensing, 14(12), 2753. [DOI: 10.3390/rs14122753] (P12)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669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Fu, H., Li, H., Dong, Y., Xu, F., &amp; Chen, F. (2022). Segmenting Individual Tree from TLS Point Clouds Using Improved DBSCAN. Forests, 13(4), 566. [DOI: 10.3390/f13040566] (P6)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0490" lvl="0" marL="171450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sz="1200">
              <a:solidFill>
                <a:srgbClr val="222222"/>
              </a:solidFill>
            </a:endParaRPr>
          </a:p>
          <a:p>
            <a:pPr indent="-110490" lvl="0" marL="171450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sz="1200">
              <a:solidFill>
                <a:srgbClr val="222222"/>
              </a:solidFill>
            </a:endParaRPr>
          </a:p>
          <a:p>
            <a:pPr indent="-102870" lvl="0" marL="171450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57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7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6111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303" name="Google Shape;3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7"/>
          <p:cNvSpPr txBox="1"/>
          <p:nvPr/>
        </p:nvSpPr>
        <p:spPr>
          <a:xfrm>
            <a:off x="888231" y="274320"/>
            <a:ext cx="72693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entury Schoolbook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b="1" i="0" sz="3600" u="none" cap="none" strike="noStrike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type="title"/>
          </p:nvPr>
        </p:nvSpPr>
        <p:spPr>
          <a:xfrm>
            <a:off x="888231" y="274320"/>
            <a:ext cx="72693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entury Schoolbook"/>
              <a:buNone/>
            </a:pPr>
            <a:r>
              <a:rPr b="1" lang="en-US" sz="3600" strike="noStrike"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b="1" sz="3600" strike="noStrike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0" name="Google Shape;310;p38"/>
          <p:cNvSpPr txBox="1"/>
          <p:nvPr>
            <p:ph idx="1" type="body"/>
          </p:nvPr>
        </p:nvSpPr>
        <p:spPr>
          <a:xfrm>
            <a:off x="375222" y="1572309"/>
            <a:ext cx="6636300" cy="35102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6695" lvl="0" marL="257175" rtl="0" algn="just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Lamping, J. E., Zald, H. S. J., Madurapperuma, B. D., &amp; Graham, J. (2021). Comparison of Low-Cost Commercial Unpiloted Digital Aerial Photogrammetry to Airborne Laser Scanning across Multiple Forest Types in California, USA. Remote Sensing, 13(21), 4292. [DOI: 10.3390/rs13214292] 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6695" lvl="0" marL="257175" rtl="0" algn="just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Moreira, B. M., Goyanes, G., Pina, P., Vassilev, O., &amp; Heleno, S. (2021). Assessment of the Influence of Survey Design and Processing Choices on the Accuracy of Tree Diameter at Breast Height (DBH) Measurements Using UAV-Based Photogrammetry. Drones, 5(2), 43. [DOI: 10.3390/drones5020043] 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6695" lvl="0" marL="257175" rtl="0" algn="just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Zhang, W., Qi, J., Wan, P., Wang, H., Xie, D., Wang, X., &amp; Yan, G. (2016). An Easy-to-Use Airborne LiDAR Data Filtering Method Based on Cloth Simulation. Remote Sensing, 8(6), 501. [DOI: 10.3390/rs8060501] 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6695" lvl="0" marL="257175" rtl="0" algn="just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Zhang, Y., Zou, Y., &amp; Wang, Y. (2025). Remote Sensing of Forest Above-Ground Biomass Dynamics: A Review. Forests, 16(3), 821. [DOI: 10.3390/f16030821] 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6695" lvl="0" marL="257175" rtl="0" algn="just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t/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8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81818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312" name="Google Shape;31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