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Century Schoolbook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BA3A5F-0D26-4F73-8753-AE754C2A2055}">
  <a:tblStyle styleId="{7EBA3A5F-0D26-4F73-8753-AE754C2A2055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000000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000000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Schoolbook-bold.fntdata"/><Relationship Id="rId30" Type="http://schemas.openxmlformats.org/officeDocument/2006/relationships/font" Target="fonts/CenturySchoolbook-regular.fntdata"/><Relationship Id="rId11" Type="http://schemas.openxmlformats.org/officeDocument/2006/relationships/slide" Target="slides/slide5.xml"/><Relationship Id="rId33" Type="http://schemas.openxmlformats.org/officeDocument/2006/relationships/font" Target="fonts/CenturySchoolbook-boldItalic.fntdata"/><Relationship Id="rId10" Type="http://schemas.openxmlformats.org/officeDocument/2006/relationships/slide" Target="slides/slide4.xml"/><Relationship Id="rId32" Type="http://schemas.openxmlformats.org/officeDocument/2006/relationships/font" Target="fonts/CenturySchoolbook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2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4" name="Google Shape;24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6" name="Google Shape;26;p2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130300" y="1803400"/>
            <a:ext cx="5825202" cy="12347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50"/>
              <a:buFont typeface="Trebuchet MS"/>
              <a:buNone/>
              <a:defRPr sz="405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130300" y="3038125"/>
            <a:ext cx="5825202" cy="822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"/>
          <p:cNvSpPr txBox="1"/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/>
          <p:nvPr>
            <p:ph type="title"/>
          </p:nvPr>
        </p:nvSpPr>
        <p:spPr>
          <a:xfrm>
            <a:off x="508001" y="2025651"/>
            <a:ext cx="6447501" cy="1369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Trebuchet MS"/>
              <a:buNone/>
              <a:defRPr b="0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508001" y="3395586"/>
            <a:ext cx="6447501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508001" y="1620442"/>
            <a:ext cx="3138026" cy="2910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3817477" y="1620442"/>
            <a:ext cx="3138026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506809" y="1620737"/>
            <a:ext cx="3139217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9pPr>
          </a:lstStyle>
          <a:p/>
        </p:txBody>
      </p:sp>
      <p:sp>
        <p:nvSpPr>
          <p:cNvPr id="61" name="Google Shape;61;p6"/>
          <p:cNvSpPr txBox="1"/>
          <p:nvPr>
            <p:ph idx="2" type="body"/>
          </p:nvPr>
        </p:nvSpPr>
        <p:spPr>
          <a:xfrm>
            <a:off x="506809" y="2052934"/>
            <a:ext cx="3139217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3" type="body"/>
          </p:nvPr>
        </p:nvSpPr>
        <p:spPr>
          <a:xfrm>
            <a:off x="3816287" y="1620737"/>
            <a:ext cx="3139214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None/>
              <a:defRPr b="0" sz="1800"/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b="1" sz="1350"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b="1" sz="1200"/>
            </a:lvl9pPr>
          </a:lstStyle>
          <a:p/>
        </p:txBody>
      </p:sp>
      <p:sp>
        <p:nvSpPr>
          <p:cNvPr id="63" name="Google Shape;63;p6"/>
          <p:cNvSpPr txBox="1"/>
          <p:nvPr>
            <p:ph idx="4" type="body"/>
          </p:nvPr>
        </p:nvSpPr>
        <p:spPr>
          <a:xfrm>
            <a:off x="3816288" y="2052934"/>
            <a:ext cx="3139213" cy="2478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508000" y="1123953"/>
            <a:ext cx="2890896" cy="958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3570346" y="386193"/>
            <a:ext cx="3385156" cy="4144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508000" y="2082802"/>
            <a:ext cx="2890896" cy="1938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/>
          <p:nvPr>
            <p:ph type="title"/>
          </p:nvPr>
        </p:nvSpPr>
        <p:spPr>
          <a:xfrm>
            <a:off x="508001" y="3600450"/>
            <a:ext cx="64475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/>
          <p:nvPr>
            <p:ph idx="2" type="pic"/>
          </p:nvPr>
        </p:nvSpPr>
        <p:spPr>
          <a:xfrm>
            <a:off x="508001" y="457200"/>
            <a:ext cx="6447501" cy="2884289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508001" y="4025504"/>
            <a:ext cx="6447500" cy="5055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600"/>
              <a:buNone/>
              <a:defRPr sz="750"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540"/>
              <a:buNone/>
              <a:defRPr sz="675"/>
            </a:lvl9pPr>
          </a:lstStyle>
          <a:p/>
        </p:txBody>
      </p:sp>
      <p:sp>
        <p:nvSpPr>
          <p:cNvPr id="87" name="Google Shape;87;p10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/>
          <p:nvPr>
            <p:ph type="title"/>
          </p:nvPr>
        </p:nvSpPr>
        <p:spPr>
          <a:xfrm>
            <a:off x="508001" y="457200"/>
            <a:ext cx="6447501" cy="25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" type="body"/>
          </p:nvPr>
        </p:nvSpPr>
        <p:spPr>
          <a:xfrm>
            <a:off x="1024604" y="2724150"/>
            <a:ext cx="54183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2" type="body"/>
          </p:nvPr>
        </p:nvSpPr>
        <p:spPr>
          <a:xfrm>
            <a:off x="508001" y="3352800"/>
            <a:ext cx="6447501" cy="1178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2"/>
          <p:cNvSpPr txBox="1"/>
          <p:nvPr/>
        </p:nvSpPr>
        <p:spPr>
          <a:xfrm>
            <a:off x="406402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050" u="none" cap="none" strike="noStrik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>
            <p:ph type="title"/>
          </p:nvPr>
        </p:nvSpPr>
        <p:spPr>
          <a:xfrm>
            <a:off x="508001" y="1448991"/>
            <a:ext cx="6447501" cy="19465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698500" y="457200"/>
            <a:ext cx="6070601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406402" y="59278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/>
          <p:nvPr>
            <p:ph type="title"/>
          </p:nvPr>
        </p:nvSpPr>
        <p:spPr>
          <a:xfrm>
            <a:off x="514350" y="457200"/>
            <a:ext cx="6441152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Trebuchet MS"/>
              <a:buNone/>
              <a:defRPr b="0" sz="33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 txBox="1"/>
          <p:nvPr>
            <p:ph idx="1" type="body"/>
          </p:nvPr>
        </p:nvSpPr>
        <p:spPr>
          <a:xfrm>
            <a:off x="507999" y="3009900"/>
            <a:ext cx="6447502" cy="3856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Font typeface="Trebuchet MS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Font typeface="Trebuchet MS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720"/>
              <a:buFont typeface="Trebuchet MS"/>
              <a:buNone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2" type="body"/>
          </p:nvPr>
        </p:nvSpPr>
        <p:spPr>
          <a:xfrm>
            <a:off x="508001" y="3395586"/>
            <a:ext cx="6447501" cy="1135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84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 rot="5400000">
            <a:off x="2276462" y="-148019"/>
            <a:ext cx="2910580" cy="6447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 txBox="1"/>
          <p:nvPr>
            <p:ph type="title"/>
          </p:nvPr>
        </p:nvSpPr>
        <p:spPr>
          <a:xfrm rot="5400000">
            <a:off x="4495739" y="1937216"/>
            <a:ext cx="3938588" cy="978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" type="body"/>
          </p:nvPr>
        </p:nvSpPr>
        <p:spPr>
          <a:xfrm rot="5400000">
            <a:off x="1186264" y="-221062"/>
            <a:ext cx="3938588" cy="5295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7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7" name="Google Shape;7;p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" name="Google Shape;8;p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" name="Google Shape;9;p1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41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372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411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411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31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313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1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b="0" i="0" sz="27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"/>
          <p:cNvSpPr txBox="1"/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►"/>
              <a:defRPr b="0" i="0" sz="13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89560" lvl="1" marL="9144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81939" lvl="2" marL="13716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►"/>
              <a:defRPr b="0" i="0" sz="105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74319" lvl="3" marL="1828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74320" lvl="4" marL="22860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74320" lvl="5" marL="27432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74320" lvl="6" marL="32004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74320" lvl="7" marL="36576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74320" lvl="8" marL="411480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720"/>
              <a:buFont typeface="Noto Sans Symbols"/>
              <a:buChar char="►"/>
              <a:defRPr b="0" i="0" sz="9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" name="Google Shape;19;p1"/>
          <p:cNvSpPr txBox="1"/>
          <p:nvPr>
            <p:ph idx="10" type="dt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"/>
          <p:cNvSpPr txBox="1"/>
          <p:nvPr>
            <p:ph idx="11" type="ftr"/>
          </p:nvPr>
        </p:nvSpPr>
        <p:spPr>
          <a:xfrm>
            <a:off x="508000" y="4531022"/>
            <a:ext cx="47232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"/>
              <a:buFont typeface="Arial"/>
              <a:buNone/>
              <a:defRPr b="0" i="0" sz="675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slide" Target="/ppt/slides/slide23.xml"/><Relationship Id="rId4" Type="http://schemas.openxmlformats.org/officeDocument/2006/relationships/slide" Target="/ppt/slides/slide23.xml"/><Relationship Id="rId5" Type="http://schemas.openxmlformats.org/officeDocument/2006/relationships/slide" Target="/ppt/slides/slide23.xml"/><Relationship Id="rId6" Type="http://schemas.openxmlformats.org/officeDocument/2006/relationships/slide" Target="/ppt/slides/slide23.xml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ctrTitle"/>
          </p:nvPr>
        </p:nvSpPr>
        <p:spPr>
          <a:xfrm>
            <a:off x="447400" y="1460200"/>
            <a:ext cx="6702300" cy="77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5400"/>
              <a:buFont typeface="Century"/>
              <a:buNone/>
            </a:pPr>
            <a:r>
              <a:rPr b="1" lang="en-US" sz="370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      AI Based Forest Inventory </a:t>
            </a:r>
            <a:endParaRPr b="1" sz="3700">
              <a:solidFill>
                <a:schemeClr val="lt1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887225" y="3275275"/>
            <a:ext cx="3986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Group Members</a:t>
            </a: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Noman Shahid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(22P-9</a:t>
            </a: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029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lang="en-US" sz="17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Ahmad Waheed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(22P-9</a:t>
            </a: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031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Schoolbook"/>
              <a:buNone/>
            </a:pP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Sadaqat Ali Shakir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(22P-</a:t>
            </a:r>
            <a:r>
              <a:rPr lang="en-US" sz="17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9223</a:t>
            </a:r>
            <a:r>
              <a:rPr b="0" i="0" lang="en-US" sz="17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0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791100" y="3275250"/>
            <a:ext cx="3650100" cy="16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2F2F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Supervisor:</a:t>
            </a:r>
            <a:endParaRPr sz="1700">
              <a:solidFill>
                <a:srgbClr val="F2F2F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2F2F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Dr.Bilal Jan</a:t>
            </a:r>
            <a:endParaRPr sz="1700">
              <a:solidFill>
                <a:srgbClr val="F2F2F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2F2F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Co-Supervisor</a:t>
            </a:r>
            <a:endParaRPr sz="1700">
              <a:solidFill>
                <a:srgbClr val="F2F2F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F2F2F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Dr Omar Usman</a:t>
            </a:r>
            <a:endParaRPr sz="1700">
              <a:solidFill>
                <a:srgbClr val="F2F2F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2F2F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390" y="8181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 txBox="1"/>
          <p:nvPr>
            <p:ph type="title"/>
          </p:nvPr>
        </p:nvSpPr>
        <p:spPr>
          <a:xfrm>
            <a:off x="195550" y="567069"/>
            <a:ext cx="7269300" cy="54427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</a:pPr>
            <a:r>
              <a:rPr b="1" lang="en-US" sz="3600" strike="noStrike">
                <a:latin typeface="Georgia"/>
                <a:ea typeface="Georgia"/>
                <a:cs typeface="Georgia"/>
                <a:sym typeface="Georgia"/>
              </a:rPr>
              <a:t>Introducti</a:t>
            </a: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o</a:t>
            </a:r>
            <a:r>
              <a:rPr b="1" lang="en-US" sz="3600" strike="noStrike">
                <a:latin typeface="Georgia"/>
                <a:ea typeface="Georgia"/>
                <a:cs typeface="Georgia"/>
                <a:sym typeface="Georgia"/>
              </a:rPr>
              <a:t>n</a:t>
            </a:r>
            <a:endParaRPr b="1" sz="3600" strike="noStrike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2" name="Google Shape;152;p19"/>
          <p:cNvSpPr txBox="1"/>
          <p:nvPr>
            <p:ph idx="1" type="body"/>
          </p:nvPr>
        </p:nvSpPr>
        <p:spPr>
          <a:xfrm>
            <a:off x="301214" y="1111345"/>
            <a:ext cx="6305842" cy="36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Our project is an AI-based system that automatically detects and counts trees from point cloud data.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Instead of performing manual forest surveys, we segment each tree, extract essential attributes such as height and crown diameter, and store this information in a database as a digital forest inventory.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This inventory can be used for tree monitoring, forest management, and tracking changes over time.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100"/>
              <a:buNone/>
            </a:pPr>
            <a:r>
              <a:rPr lang="en-US" sz="1200">
                <a:latin typeface="Calibri"/>
                <a:ea typeface="Calibri"/>
                <a:cs typeface="Calibri"/>
                <a:sym typeface="Calibri"/>
              </a:rPr>
              <a:t>The overall goal is to make forest analysis faster, more efficient, and more accurate using AI techniques.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1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173347" y="614395"/>
            <a:ext cx="6582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Workflow Diagram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entury Schoolbook"/>
              <a:buNone/>
            </a:pPr>
            <a:r>
              <a:t/>
            </a:r>
            <a:endParaRPr b="1" sz="2400"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8469630" y="4650084"/>
            <a:ext cx="6855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61" name="Google Shape;1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500" y="1069600"/>
            <a:ext cx="5770598" cy="3767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400175" y="339400"/>
            <a:ext cx="445536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Use Case Diagram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69" name="Google Shape;1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500" y="1011125"/>
            <a:ext cx="5606025" cy="338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119349" y="80724"/>
            <a:ext cx="6891051" cy="110402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Layered Architecture Diagram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77" name="Google Shape;1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2055" y="1166400"/>
            <a:ext cx="5529047" cy="374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187523" y="189238"/>
            <a:ext cx="4831043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Sequence Diagram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85" name="Google Shape;1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525" y="895224"/>
            <a:ext cx="6434625" cy="335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339006" y="391945"/>
            <a:ext cx="726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UI/UX</a:t>
            </a:r>
            <a:endParaRPr b="1" sz="3600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2" name="Google Shape;192;p24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939271" y="4010609"/>
            <a:ext cx="160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Data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2540959" y="4235009"/>
            <a:ext cx="16194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4759800" y="4010600"/>
            <a:ext cx="1871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 &amp; Insights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270000"/>
            <a:ext cx="3690200" cy="230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5000" y="1213601"/>
            <a:ext cx="3105378" cy="242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377359" y="391945"/>
            <a:ext cx="72693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UI/UX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4" name="Google Shape;204;p25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256856" y="4419840"/>
            <a:ext cx="19121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2486350" y="3899075"/>
            <a:ext cx="262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Reports &amp; Visualization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4638334" y="4408478"/>
            <a:ext cx="15797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208" name="Google Shape;2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625" y="1077335"/>
            <a:ext cx="309562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400" y="1077325"/>
            <a:ext cx="3671775" cy="258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type="title"/>
          </p:nvPr>
        </p:nvSpPr>
        <p:spPr>
          <a:xfrm>
            <a:off x="87976" y="227986"/>
            <a:ext cx="78285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Dataset Preview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26"/>
          <p:cNvSpPr txBox="1"/>
          <p:nvPr>
            <p:ph idx="12" type="sldNum"/>
          </p:nvPr>
        </p:nvSpPr>
        <p:spPr>
          <a:xfrm>
            <a:off x="6442998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75" y="1000775"/>
            <a:ext cx="6908625" cy="353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/>
          <p:nvPr>
            <p:ph type="title"/>
          </p:nvPr>
        </p:nvSpPr>
        <p:spPr>
          <a:xfrm>
            <a:off x="87976" y="227986"/>
            <a:ext cx="78285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Dataset Preview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4" name="Google Shape;224;p27"/>
          <p:cNvSpPr txBox="1"/>
          <p:nvPr>
            <p:ph idx="12" type="sldNum"/>
          </p:nvPr>
        </p:nvSpPr>
        <p:spPr>
          <a:xfrm>
            <a:off x="6442998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25" name="Google Shape;22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153175"/>
            <a:ext cx="3783124" cy="212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4937" y="1821951"/>
            <a:ext cx="4589676" cy="2522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316051" y="547049"/>
            <a:ext cx="7828487" cy="7727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lang="en-US" sz="3600">
                <a:latin typeface="Georgia"/>
                <a:ea typeface="Georgia"/>
                <a:cs typeface="Georgia"/>
                <a:sym typeface="Georgia"/>
              </a:rPr>
              <a:t>Forest Inventory Features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316051" y="1578511"/>
            <a:ext cx="6897620" cy="35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rPr b="1" lang="en-US" sz="1300"/>
              <a:t>The final product will contain following features: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Tree Identification &amp; Counting.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Tree Location Mapping.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Tree Attribute Extraction (Height,Crown Diameter,DBH,Wood Density).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Calculate Biomass.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Updating Forest Over Time.</a:t>
            </a:r>
            <a:endParaRPr/>
          </a:p>
          <a:p>
            <a:pPr indent="-1555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1555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34" name="Google Shape;234;p28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35" name="Google Shape;23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/>
          <p:nvPr>
            <p:ph type="title"/>
          </p:nvPr>
        </p:nvSpPr>
        <p:spPr>
          <a:xfrm>
            <a:off x="316051" y="547049"/>
            <a:ext cx="7828487" cy="7727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Tree Segmentation Methodology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1" name="Google Shape;241;p29"/>
          <p:cNvSpPr txBox="1"/>
          <p:nvPr>
            <p:ph idx="1" type="body"/>
          </p:nvPr>
        </p:nvSpPr>
        <p:spPr>
          <a:xfrm>
            <a:off x="316051" y="1741544"/>
            <a:ext cx="6897620" cy="22846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Pre-processing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Noise Removal</a:t>
            </a:r>
            <a:r>
              <a:rPr lang="en-US"/>
              <a:t> 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Detection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Segmentation</a:t>
            </a:r>
            <a:endParaRPr/>
          </a:p>
        </p:txBody>
      </p:sp>
      <p:sp>
        <p:nvSpPr>
          <p:cNvPr id="242" name="Google Shape;242;p2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43" name="Google Shape;24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316051" y="292787"/>
            <a:ext cx="7828487" cy="7727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Schoolbook"/>
              <a:buNone/>
            </a:pPr>
            <a:r>
              <a:rPr b="1" lang="en-US" sz="3600">
                <a:latin typeface="Century Schoolbook"/>
                <a:ea typeface="Century Schoolbook"/>
                <a:cs typeface="Century Schoolbook"/>
                <a:sym typeface="Century Schoolbook"/>
              </a:rPr>
              <a:t>Tree Segmentation</a:t>
            </a:r>
            <a:endParaRPr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9" name="Google Shape;249;p30"/>
          <p:cNvSpPr txBox="1"/>
          <p:nvPr>
            <p:ph idx="1" type="body"/>
          </p:nvPr>
        </p:nvSpPr>
        <p:spPr>
          <a:xfrm>
            <a:off x="316051" y="1578511"/>
            <a:ext cx="6897620" cy="356498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55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1555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250" name="Google Shape;250;p30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51" name="Google Shape;25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0"/>
          <p:cNvSpPr txBox="1"/>
          <p:nvPr/>
        </p:nvSpPr>
        <p:spPr>
          <a:xfrm>
            <a:off x="316051" y="1184511"/>
            <a:ext cx="45773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Automated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Segmentation Pipeline</a:t>
            </a:r>
            <a:endParaRPr/>
          </a:p>
        </p:txBody>
      </p:sp>
      <p:sp>
        <p:nvSpPr>
          <p:cNvPr id="253" name="Google Shape;253;p30"/>
          <p:cNvSpPr/>
          <p:nvPr/>
        </p:nvSpPr>
        <p:spPr>
          <a:xfrm>
            <a:off x="202020" y="1794865"/>
            <a:ext cx="7740502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 Data Challenge: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Raw ULS LiDAR files are massive and unstructured.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 Bottleneck: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Extracting individual trees manually is </a:t>
            </a:r>
            <a:r>
              <a:rPr lang="en-US" sz="1600">
                <a:solidFill>
                  <a:schemeClr val="dk1"/>
                </a:solidFill>
              </a:rPr>
              <a:t>complex 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large forest blocks.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Automate the isolation of specific trees into an Extracted_ULS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</a:pPr>
            <a:r>
              <a:rPr b="1"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Tree Segmentation</a:t>
            </a:r>
            <a:endParaRPr/>
          </a:p>
        </p:txBody>
      </p:sp>
      <p:sp>
        <p:nvSpPr>
          <p:cNvPr id="259" name="Google Shape;259;p31"/>
          <p:cNvSpPr txBox="1"/>
          <p:nvPr>
            <p:ph idx="1" type="body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Char char="►"/>
            </a:pPr>
            <a:r>
              <a:rPr b="1" lang="en-US" sz="1600"/>
              <a:t>Algorithmic Solution </a:t>
            </a:r>
            <a:br>
              <a:rPr b="1" lang="en-US" sz="1600"/>
            </a:br>
            <a:r>
              <a:rPr lang="en-US"/>
              <a:t>Developed a </a:t>
            </a:r>
            <a:r>
              <a:rPr b="1" lang="en-US"/>
              <a:t>Coordinate-Based Cylindrical Extraction</a:t>
            </a:r>
            <a:r>
              <a:rPr lang="en-US"/>
              <a:t> using Python</a:t>
            </a:r>
            <a:endParaRPr/>
          </a:p>
          <a:p>
            <a:pPr indent="0" lvl="0" marL="13716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None/>
            </a:pPr>
            <a:r>
              <a:rPr b="1" lang="en-US"/>
              <a:t>	Input:</a:t>
            </a:r>
            <a:r>
              <a:rPr lang="en-US"/>
              <a:t> Raw Point Cloud </a:t>
            </a:r>
            <a:endParaRPr/>
          </a:p>
          <a:p>
            <a:pPr indent="0" lvl="0" marL="13716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40"/>
              <a:buNone/>
            </a:pPr>
            <a:r>
              <a:rPr lang="en-US"/>
              <a:t>The algorithm doesn't use a fixed size. It calculates a specific cutting radius for </a:t>
            </a:r>
            <a:r>
              <a:rPr i="1" lang="en-US"/>
              <a:t>each</a:t>
            </a:r>
            <a:r>
              <a:rPr lang="en-US"/>
              <a:t> tree:</a:t>
            </a:r>
            <a:endParaRPr/>
          </a:p>
        </p:txBody>
      </p:sp>
      <p:pic>
        <p:nvPicPr>
          <p:cNvPr id="260" name="Google Shape;2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7323" y="3130069"/>
            <a:ext cx="3743325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187523" y="189238"/>
            <a:ext cx="48309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Tree Features</a:t>
            </a:r>
            <a:endParaRPr b="1" sz="3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6" name="Google Shape;266;p32"/>
          <p:cNvSpPr txBox="1"/>
          <p:nvPr>
            <p:ph idx="12" type="sldNum"/>
          </p:nvPr>
        </p:nvSpPr>
        <p:spPr>
          <a:xfrm>
            <a:off x="6442998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67" name="Google Shape;2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845338"/>
            <a:ext cx="5970437" cy="3533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/>
          <p:nvPr>
            <p:ph type="title"/>
          </p:nvPr>
        </p:nvSpPr>
        <p:spPr>
          <a:xfrm>
            <a:off x="316051" y="547049"/>
            <a:ext cx="7828487" cy="77271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000"/>
              <a:t>Feature Extraction &amp; Biomass Estimation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4" name="Google Shape;274;p33"/>
          <p:cNvSpPr txBox="1"/>
          <p:nvPr>
            <p:ph idx="1" type="body"/>
          </p:nvPr>
        </p:nvSpPr>
        <p:spPr>
          <a:xfrm>
            <a:off x="316051" y="1741544"/>
            <a:ext cx="6897620" cy="22846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Geometric Features:</a:t>
            </a:r>
            <a:r>
              <a:rPr lang="en-US"/>
              <a:t> Tree Height &amp; Crown Diameter.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AI Prediction:</a:t>
            </a:r>
            <a:r>
              <a:rPr lang="en-US"/>
              <a:t> ML Regression Model for DBH.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Biomass Algo:</a:t>
            </a:r>
            <a:r>
              <a:rPr lang="en-US"/>
              <a:t> Standard Chave et al. (2014) Equation.</a:t>
            </a:r>
            <a:endParaRPr/>
          </a:p>
          <a:p>
            <a:pPr indent="-25717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600"/>
              <a:buChar char="►"/>
            </a:pPr>
            <a:r>
              <a:rPr b="1" lang="en-US"/>
              <a:t>Final Output:</a:t>
            </a:r>
            <a:r>
              <a:rPr lang="en-US"/>
              <a:t> Automated Digital Inventory CSV.</a:t>
            </a:r>
            <a:endParaRPr/>
          </a:p>
        </p:txBody>
      </p:sp>
      <p:sp>
        <p:nvSpPr>
          <p:cNvPr id="275" name="Google Shape;275;p33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76" name="Google Shape;2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type="title"/>
          </p:nvPr>
        </p:nvSpPr>
        <p:spPr>
          <a:xfrm>
            <a:off x="283535" y="701748"/>
            <a:ext cx="7932025" cy="566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Model Architecture</a:t>
            </a:r>
            <a:endParaRPr/>
          </a:p>
        </p:txBody>
      </p:sp>
      <p:sp>
        <p:nvSpPr>
          <p:cNvPr id="282" name="Google Shape;282;p34"/>
          <p:cNvSpPr txBox="1"/>
          <p:nvPr>
            <p:ph idx="1" type="body"/>
          </p:nvPr>
        </p:nvSpPr>
        <p:spPr>
          <a:xfrm>
            <a:off x="524166" y="1298125"/>
            <a:ext cx="6081900" cy="3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Used : 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this Model ? : 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Handles tabular tree features effectively accuracy , implementation.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Robust and low risk of overfitting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Requires minimal tuning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Task 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DBH, Next Month Prediction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Split: 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(80%) and testing (20%)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Trees: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360</a:t>
            </a:r>
            <a:b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Validation Trees: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90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ational University of Computer and Emerging Sciences - Wikipedia" id="283" name="Google Shape;28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>
            <p:ph type="title"/>
          </p:nvPr>
        </p:nvSpPr>
        <p:spPr>
          <a:xfrm>
            <a:off x="377687" y="274320"/>
            <a:ext cx="78378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Schoolbook"/>
              <a:buNone/>
            </a:pPr>
            <a:r>
              <a:rPr b="1"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Web Prototype </a:t>
            </a:r>
            <a:endParaRPr/>
          </a:p>
        </p:txBody>
      </p:sp>
      <p:pic>
        <p:nvPicPr>
          <p:cNvPr descr="National University of Computer and Emerging Sciences - Wikipedia" id="289" name="Google Shape;28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075" y="1268225"/>
            <a:ext cx="6697101" cy="3154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 txBox="1"/>
          <p:nvPr>
            <p:ph type="title"/>
          </p:nvPr>
        </p:nvSpPr>
        <p:spPr>
          <a:xfrm>
            <a:off x="377687" y="274320"/>
            <a:ext cx="7837873" cy="993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Schoolbook"/>
              <a:buNone/>
            </a:pPr>
            <a:r>
              <a:rPr b="1" lang="en-US" sz="2800">
                <a:latin typeface="Century Schoolbook"/>
                <a:ea typeface="Century Schoolbook"/>
                <a:cs typeface="Century Schoolbook"/>
                <a:sym typeface="Century Schoolbook"/>
              </a:rPr>
              <a:t>Web Prototype </a:t>
            </a:r>
            <a:endParaRPr/>
          </a:p>
        </p:txBody>
      </p:sp>
      <p:pic>
        <p:nvPicPr>
          <p:cNvPr descr="National University of Computer and Emerging Sciences - Wikipedia" id="296" name="Google Shape;2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800" y="1067400"/>
            <a:ext cx="6314724" cy="367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627941" y="117445"/>
            <a:ext cx="4326831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eorgia"/>
              <a:buNone/>
            </a:pPr>
            <a:r>
              <a:rPr b="1" lang="en-US" sz="3600">
                <a:latin typeface="Georgia"/>
                <a:ea typeface="Georgia"/>
                <a:cs typeface="Georgia"/>
                <a:sym typeface="Georgia"/>
              </a:rPr>
              <a:t>Progress so far</a:t>
            </a:r>
            <a:endParaRPr/>
          </a:p>
        </p:txBody>
      </p:sp>
      <p:sp>
        <p:nvSpPr>
          <p:cNvPr id="303" name="Google Shape;303;p37"/>
          <p:cNvSpPr txBox="1"/>
          <p:nvPr>
            <p:ph idx="1" type="body"/>
          </p:nvPr>
        </p:nvSpPr>
        <p:spPr>
          <a:xfrm>
            <a:off x="627950" y="1458200"/>
            <a:ext cx="5145300" cy="31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85115" lvl="0" marL="2571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Char char="►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Detected individual trees </a:t>
            </a:r>
            <a:endParaRPr sz="1400"/>
          </a:p>
          <a:p>
            <a:pPr indent="-285115" lvl="0" marL="2571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Char char="►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Extracted tree-level features (e.g., height, crown area, spectral indices)</a:t>
            </a:r>
            <a:endParaRPr sz="1400"/>
          </a:p>
          <a:p>
            <a:pPr indent="-285115" lvl="0" marL="2571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Char char="►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Trained a model to predict DBH from extracted features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69875" lvl="0" marL="2571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Font typeface="Calibri"/>
              <a:buChar char="►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Prepared a time-series framework to use previous month’s features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115" lvl="0" marL="2571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Char char="►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Trained a predictive model to estimate next month's DBH using past monthly data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285115" lvl="0" marL="2571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Char char="►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Web prototype for simulation</a:t>
            </a:r>
            <a:endParaRPr sz="1400"/>
          </a:p>
          <a:p>
            <a:pPr indent="-285115" lvl="0" marL="2571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400"/>
              <a:buChar char="►"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Report done 40% +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196215" lvl="0" marL="2571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305" name="Google Shape;30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 txBox="1"/>
          <p:nvPr>
            <p:ph idx="1" type="body"/>
          </p:nvPr>
        </p:nvSpPr>
        <p:spPr>
          <a:xfrm>
            <a:off x="839371" y="620008"/>
            <a:ext cx="6487200" cy="43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407"/>
              <a:t>	</a:t>
            </a:r>
            <a:br>
              <a:rPr lang="en-US" sz="5407"/>
            </a:br>
            <a:endParaRPr sz="5407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407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/>
          </a:p>
        </p:txBody>
      </p:sp>
      <p:sp>
        <p:nvSpPr>
          <p:cNvPr id="311" name="Google Shape;311;p38"/>
          <p:cNvSpPr txBox="1"/>
          <p:nvPr/>
        </p:nvSpPr>
        <p:spPr>
          <a:xfrm>
            <a:off x="241005" y="503275"/>
            <a:ext cx="6187565" cy="6631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Work Distribution FYP-1</a:t>
            </a:r>
            <a:endParaRPr b="1" i="0" sz="3600" u="none" cap="none" strike="noStrike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National University of Computer and Emerging Sciences - Wikipedia" id="312" name="Google Shape;31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3" name="Google Shape;313;p38"/>
          <p:cNvGraphicFramePr/>
          <p:nvPr/>
        </p:nvGraphicFramePr>
        <p:xfrm>
          <a:off x="406813" y="1283144"/>
          <a:ext cx="3000000" cy="3000000"/>
        </p:xfrm>
        <a:graphic>
          <a:graphicData uri="http://schemas.openxmlformats.org/drawingml/2006/table">
            <a:tbl>
              <a:tblPr bandCol="1" firstCol="1" lastCol="1">
                <a:noFill/>
                <a:tableStyleId>{7EBA3A5F-0D26-4F73-8753-AE754C2A2055}</a:tableStyleId>
              </a:tblPr>
              <a:tblGrid>
                <a:gridCol w="3135350"/>
                <a:gridCol w="3135350"/>
              </a:tblGrid>
              <a:tr h="34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Team Member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/>
                        <a:t>Task / Deliverable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816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0" lang="en-US" sz="1400" u="none" cap="none" strike="noStrike">
                          <a:solidFill>
                            <a:schemeClr val="dk1"/>
                          </a:solidFill>
                        </a:rPr>
                        <a:t>Sadaqat Ali Shakir</a:t>
                      </a:r>
                      <a:endParaRPr b="0"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Tree Segmentation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105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chemeClr val="dk1"/>
                          </a:solidFill>
                        </a:rPr>
                        <a:t>Ahmad Waheed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Tree Features Extraction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129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Arial"/>
                        <a:buNone/>
                      </a:pPr>
                      <a:r>
                        <a:rPr b="0" lang="en-US" sz="1350" u="none" cap="none" strike="noStrike">
                          <a:solidFill>
                            <a:schemeClr val="dk1"/>
                          </a:solidFill>
                        </a:rPr>
                        <a:t>Noman Shahid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br>
                        <a:rPr lang="en-US" sz="1350" u="none" cap="none" strike="noStrike"/>
                      </a:br>
                      <a:r>
                        <a:rPr lang="en-US" sz="1350" u="none" cap="none" strike="noStrike"/>
                        <a:t>Model Training</a:t>
                      </a:r>
                      <a:endParaRPr sz="135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 txBox="1"/>
          <p:nvPr>
            <p:ph idx="1" type="body"/>
          </p:nvPr>
        </p:nvSpPr>
        <p:spPr>
          <a:xfrm>
            <a:off x="342421" y="1403100"/>
            <a:ext cx="6446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Duncanson, L., &amp; Dubayah, R. (2018). Monitoring individual tree-based change with airborne lidar. Ecology and Evolution, 8(11), 5489-5502. [DOI: 10.1002/ece3.4075] (P13)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Dietmaier, A., McDermid, G. J., Rahman, M. M., Linke, J., &amp; Ludwig, R. (2019). Comparison of LiDAR and Digital Aerial Photogrammetry for Characterizing Canopy Openings in the Boreal Forest of Northern Alberta. Remote Sensing, 11(16), 1919. [DOI: 10.3390/rs11161919] (P3)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Feng, B., Nie, S., Wang, C., Xi, X., Wang, J., Zhou, G., &amp; Wang, H. (2022). Exploring the Potential of UAV LiDAR Data for Trunk Point Extraction and Direct DBH Measurement. Remote Sensing, 14(12), 2753. [DOI: 10.3390/rs14122753] (P12)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Fu, H., Li, H., Dong, Y., Xu, F., &amp; Chen, F. (2022). Segmenting Individual Tree from TLS Point Clouds Using Improved DBSCAN. Forests, 13(4), 566. [DOI: 10.3390/f13040566] (P6)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0490" lvl="0" marL="171450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  <a:p>
            <a:pPr indent="-110490" lvl="0" marL="171450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>
              <a:solidFill>
                <a:srgbClr val="222222"/>
              </a:solidFill>
            </a:endParaRPr>
          </a:p>
          <a:p>
            <a:pPr indent="-102870" lvl="0" marL="171450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257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9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6111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00000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320" name="Google Shape;32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9"/>
          <p:cNvSpPr txBox="1"/>
          <p:nvPr/>
        </p:nvSpPr>
        <p:spPr>
          <a:xfrm>
            <a:off x="888231" y="274320"/>
            <a:ext cx="7269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b="1" i="0" sz="3600" u="none" cap="none" strike="noStrike">
              <a:solidFill>
                <a:schemeClr val="accen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0"/>
          <p:cNvSpPr txBox="1"/>
          <p:nvPr>
            <p:ph type="title"/>
          </p:nvPr>
        </p:nvSpPr>
        <p:spPr>
          <a:xfrm>
            <a:off x="888231" y="274320"/>
            <a:ext cx="7269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</a:pPr>
            <a:r>
              <a:rPr b="1" lang="en-US" sz="3600" strike="noStrike"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b="1" sz="3600" strike="noStrike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7" name="Google Shape;327;p40"/>
          <p:cNvSpPr txBox="1"/>
          <p:nvPr>
            <p:ph idx="1" type="body"/>
          </p:nvPr>
        </p:nvSpPr>
        <p:spPr>
          <a:xfrm>
            <a:off x="375222" y="1572309"/>
            <a:ext cx="6636300" cy="35102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26695" lvl="0" marL="257175" rtl="0" algn="l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Lamping, J. E., Zald, H. S. J., Madurapperuma, B. D., &amp; Graham, J. (2021). Comparison of Low-Cost Commercial Unpiloted Digital Aerial Photogrammetry to Airborne Laser Scanning across Multiple Forest Types in California, USA. Remote Sensing, 13(21), 4292. [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3"/>
              </a:rPr>
              <a:t>DOI: 10.3390/rs13214292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Moreira, B. M., Goyanes, G., Pina, P., Vassilev, O., &amp; Heleno, S. (2021). Assessment of the Influence of Survey Design and Processing Choices on the Accuracy of Tree Diameter at Breast Height (DBH) Measurements Using UAV-Based Photogrammetry. Drones, 5(2), 43. [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4"/>
              </a:rPr>
              <a:t>DOI: 10.3390/drones5020043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Zhang, W., Qi, J., Wan, P., Wang, H., Xie, D., Wang, X., &amp; Yan, G. (2016). An Easy-to-Use Airborne LiDAR Data Filtering Method Based on Cloth Simulation. Remote Sensing, 8(6), 501. [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5"/>
              </a:rPr>
              <a:t>DOI: 10.3390/rs8060501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6695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Char char="•"/>
            </a:pP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Zhang, Y., Zou, Y., &amp; Wang, Y. (2025). Remote Sensing of Forest Above-Ground Biomass Dynamics: A Review. Forests, 16(3), 821. [</a:t>
            </a: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action="ppaction://hlinksldjump" r:id="rId6"/>
              </a:rPr>
              <a:t>DOI: 10.3390/f16030821</a:t>
            </a:r>
            <a:r>
              <a:rPr lang="en-US" sz="1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734" lvl="0" marL="257175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4999"/>
              </a:lnSpc>
              <a:spcBef>
                <a:spcPts val="75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2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0"/>
          <p:cNvSpPr txBox="1"/>
          <p:nvPr>
            <p:ph idx="12" type="sldNum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550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ct val="181818"/>
              <a:buFont typeface="Century Schoolbook"/>
              <a:buNone/>
            </a:pPr>
            <a:fld id="{00000000-1234-1234-1234-123412341234}" type="slidenum">
              <a:rPr b="0" i="0" lang="en-US" sz="2700" u="none" cap="none" strike="noStrik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‹#›</a:t>
            </a:fld>
            <a:endParaRPr b="0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329" name="Google Shape;329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24173" y="62380"/>
            <a:ext cx="1104030" cy="1104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